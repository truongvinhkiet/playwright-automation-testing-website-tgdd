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ExtraBold" panose="020B0604020202020204" charset="0"/>
      <p:bold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2C3201-A74F-4589-839D-6EDC73622EE4}">
  <a:tblStyle styleId="{C02C3201-A74F-4589-839D-6EDC73622E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0b0125d5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f0b0125d5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4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4.png"/><Relationship Id="rId18" Type="http://schemas.openxmlformats.org/officeDocument/2006/relationships/image" Target="../media/image60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10" Type="http://schemas.openxmlformats.org/officeDocument/2006/relationships/image" Target="../media/image53.png"/><Relationship Id="rId19" Type="http://schemas.openxmlformats.org/officeDocument/2006/relationships/image" Target="../media/image61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4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1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8900" y="-60675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2702272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2648" y="1635925"/>
            <a:ext cx="3527077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6086475"/>
            <a:ext cx="12172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343025" y="471487"/>
            <a:ext cx="1058132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Playwright là gì?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71525" y="1176337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90525" y="6357925"/>
            <a:ext cx="153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381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16859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638300" y="1766887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Định nghĩa: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Framework mã nguồn mở của Microsoft (2020).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" y="26622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638300" y="279558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Mục tiêu: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Kiểm thử End-to-End (E2E) cho Web hiện đại.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7700" y="37338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638300" y="3854050"/>
            <a:ext cx="61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Đa trình duyệt: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Hỗ trợ hoàn hảo Chromium, WebKit (Safari), Firefox.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1550" y="48054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603175" y="4916700"/>
            <a:ext cx="587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Đa nền tảng: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Hoạt động nhất quán trên Windows, Linux, macOS.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13350" y="4124337"/>
            <a:ext cx="7429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446800" y="3933837"/>
            <a:ext cx="6572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94525" y="4124337"/>
            <a:ext cx="7429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713375" y="43243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646825" y="4133862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494550" y="43243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56287" y="2505087"/>
            <a:ext cx="12382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4053482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24062"/>
            <a:ext cx="335905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2024062"/>
            <a:ext cx="3359199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024062"/>
            <a:ext cx="335905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295400" y="528637"/>
            <a:ext cx="1063132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Tại sao chọn Playwright?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71525" y="1233487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1338262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Các tính năng cốt lõi tạo nên sự khác biệt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595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4425" y="23669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14425" y="3271837"/>
            <a:ext cx="280691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Auto-wait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14425" y="3738562"/>
            <a:ext cx="2673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Tự động chờ (Auto-wait) element sẵn sàng (hiển thị, có thể tương tác) trước khi click.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59225" y="23669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4759225" y="3271837"/>
            <a:ext cx="280706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Web-first Assertions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759225" y="4062412"/>
            <a:ext cx="26733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Cơ chế kiểm tra cực kỳ thông minh, có khả năng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tự động thử lại (retry)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các assertion liên tục cho đến khi đạt được điều kiện kỳ vọng.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04175" y="23669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404175" y="3271837"/>
            <a:ext cx="280691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Tốc độ cực nhanh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404175" y="3738562"/>
            <a:ext cx="26732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Sử dụng giao thức trực tiếp thay vì giao tiếp qua HTTP.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95400" y="25479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14425" y="5624512"/>
            <a:ext cx="1885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940200" y="25479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604200" y="254793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04175" y="4033837"/>
            <a:ext cx="10287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404175" y="5624512"/>
            <a:ext cx="17335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5404693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2165" y="1107867"/>
            <a:ext cx="4069109" cy="504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453604"/>
            <a:ext cx="6103590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230909"/>
            <a:ext cx="5722590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33525" y="5008215"/>
            <a:ext cx="5341590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94451" y="3414712"/>
            <a:ext cx="2782788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94451" y="4824412"/>
            <a:ext cx="2782788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7870626" y="3814762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111827"/>
          </a:solidFill>
          <a:ln w="1905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10577214" y="3814762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111827"/>
          </a:solidFill>
          <a:ln w="1905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390650" y="358229"/>
            <a:ext cx="1053131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Kiến trúc 3 tầng cốt lõi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771525" y="1063079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390525" y="6357925"/>
            <a:ext cx="114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1525" y="42490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/>
          <p:nvPr/>
        </p:nvSpPr>
        <p:spPr>
          <a:xfrm>
            <a:off x="9366795" y="3128962"/>
            <a:ext cx="38100" cy="28575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9366795" y="4538662"/>
            <a:ext cx="38100" cy="28575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1133475" y="1691729"/>
            <a:ext cx="572868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1. Browser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133475" y="2158454"/>
            <a:ext cx="545589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Trình duyệt vật lý (Chromium, WebKit, Firefox). Nền tảng cho phép khởi tạo nhiều instance độc lập cùng lúc.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514475" y="3469034"/>
            <a:ext cx="532863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2. Browser Context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514475" y="3935759"/>
            <a:ext cx="507489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Môi trường cô lập hoàn toàn (như "Tab ẩn danh"). Tách biệt Cookie và Local Storage → </a:t>
            </a: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Chạy song song an toàn</a:t>
            </a:r>
            <a:r>
              <a:rPr lang="en-US" sz="13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895475" y="5246340"/>
            <a:ext cx="492858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3. Page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895475" y="5713065"/>
            <a:ext cx="469389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Đại diện cho 1 Tab/Cửa sổ bên trong một Context cụ thể. Nơi trực tiếp thực hiện mọi thao tác kiểm thử UI.</a:t>
            </a:r>
            <a:endParaRPr/>
          </a:p>
        </p:txBody>
      </p:sp>
      <p:pic>
        <p:nvPicPr>
          <p:cNvPr id="185" name="Google Shape;185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95345" y="2214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8204001" y="2690812"/>
            <a:ext cx="23636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BROWSER</a:t>
            </a:r>
            <a:endParaRPr/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95345" y="3624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8204001" y="4100512"/>
            <a:ext cx="23636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CONTEXTS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204001" y="5510212"/>
            <a:ext cx="23636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PAGES</a:t>
            </a:r>
            <a:endParaRPr/>
          </a:p>
        </p:txBody>
      </p:sp>
      <p:pic>
        <p:nvPicPr>
          <p:cNvPr id="190" name="Google Shape;190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33475" y="172030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14475" y="349760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895475" y="527491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52470" y="50339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433470" y="5033962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6755903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85975"/>
            <a:ext cx="33590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2085975"/>
            <a:ext cx="3359199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085975"/>
            <a:ext cx="33590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095500"/>
            <a:ext cx="33400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25850" y="2095500"/>
            <a:ext cx="3340149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0800" y="2095500"/>
            <a:ext cx="33400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4914900"/>
            <a:ext cx="2768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11600" y="4786312"/>
            <a:ext cx="276864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56550" y="4914900"/>
            <a:ext cx="27685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1438275" y="990600"/>
            <a:ext cx="1048131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Các thành phần chính trong Test Script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771525" y="1695450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90525" y="6357937"/>
            <a:ext cx="90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1525" y="10572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66800" y="23336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1733550" y="2409825"/>
            <a:ext cx="10301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Locator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66800" y="3343275"/>
            <a:ext cx="276850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Đại diện cho phần tử DOM, giúp tìm kiếm và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định vị chính xác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đối tượng trên trang web hiện tại.</a:t>
            </a:r>
            <a:endParaRPr/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711600" y="23336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5378350" y="2409825"/>
            <a:ext cx="8801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4711600" y="3343275"/>
            <a:ext cx="27686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Các hành động tương tác cốt lõi dùng để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mô phỏng người dùng thật sự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thao tác với website.</a:t>
            </a:r>
            <a:endParaRPr/>
          </a:p>
        </p:txBody>
      </p:sp>
      <p:pic>
        <p:nvPicPr>
          <p:cNvPr id="220" name="Google Shape;220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356550" y="23336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9023300" y="2409825"/>
            <a:ext cx="13401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Assertion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356550" y="3343275"/>
            <a:ext cx="276850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Các hàm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xác nhận kết quả</a:t>
            </a: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tự động hóa để đảm bảo test case đạt chuẩn (Pass/Fail).</a:t>
            </a:r>
            <a:endParaRPr/>
          </a:p>
        </p:txBody>
      </p:sp>
      <p:pic>
        <p:nvPicPr>
          <p:cNvPr id="223" name="Google Shape;223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190625" y="2457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878288" y="2457450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480375" y="245745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107114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333500"/>
            <a:ext cx="9525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190875"/>
            <a:ext cx="9525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5048250"/>
            <a:ext cx="9525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390650" y="238125"/>
            <a:ext cx="1053131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Khả năng kỹ thuật linh hoạt khác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771525" y="942975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390525" y="6357937"/>
            <a:ext cx="91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48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8775" y="178593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28775" y="3643312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28775" y="550068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71650" y="19669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 txBox="1"/>
          <p:nvPr/>
        </p:nvSpPr>
        <p:spPr>
          <a:xfrm>
            <a:off x="2581275" y="1628775"/>
            <a:ext cx="83810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Network Interception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2581275" y="2000250"/>
            <a:ext cx="798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Có khả năng can thiệp trực tiếp, lắng nghe và chỉnh sửa request/response mạng (dễ dàng Mock API cho Frontend).</a:t>
            </a:r>
            <a:endParaRPr/>
          </a:p>
        </p:txBody>
      </p:sp>
      <p:pic>
        <p:nvPicPr>
          <p:cNvPr id="245" name="Google Shape;245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71650" y="38242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2581275" y="3486150"/>
            <a:ext cx="83810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Testing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2581275" y="3857625"/>
            <a:ext cx="798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Hỗ trợ gọi và kiểm thử API (REST) trực tiếp ngay trong script mà không cần thiết phải thao tác thông qua giao diện UI.</a:t>
            </a:r>
            <a:endParaRPr/>
          </a:p>
        </p:txBody>
      </p:sp>
      <p:pic>
        <p:nvPicPr>
          <p:cNvPr id="248" name="Google Shape;248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47850" y="568166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2581275" y="5343525"/>
            <a:ext cx="83810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Mobile Emulation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2581275" y="5715000"/>
            <a:ext cx="798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Giả lập cấu hình thiết bị di động cực kỳ chính xác bao gồm kích thước màn hình, geolocation, permissions và user-agent.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9458325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2175" y="656487"/>
            <a:ext cx="4371350" cy="59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209675"/>
            <a:ext cx="610359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48000"/>
            <a:ext cx="610359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124450"/>
            <a:ext cx="610359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1343025" y="114300"/>
            <a:ext cx="1058132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Hệ sinh thái công cụ (Tooling)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771525" y="819150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80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1657350" y="1495425"/>
            <a:ext cx="5178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Codegen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133475" y="1866900"/>
            <a:ext cx="545589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Công cụ record tuyệt vời giúp ghi lại mọi thao tác trên trình duyệt và tự sinh mã code (JS, Python, C#, Java).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628775" y="3333750"/>
            <a:ext cx="52086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Trace Viewer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1133475" y="3705225"/>
            <a:ext cx="54558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Hoạt động như một "hộp đen" ghi lại toàn bộ quá trình chạy test (Video, Screenshots, Network Log). Rất hữu ích khi debug.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627346" y="5357813"/>
            <a:ext cx="52086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UI Mode &amp; VS Code Ext</a:t>
            </a:r>
            <a:endParaRPr dirty="0"/>
          </a:p>
        </p:txBody>
      </p:sp>
      <p:sp>
        <p:nvSpPr>
          <p:cNvPr id="269" name="Google Shape;269;p20"/>
          <p:cNvSpPr txBox="1"/>
          <p:nvPr/>
        </p:nvSpPr>
        <p:spPr>
          <a:xfrm>
            <a:off x="1095375" y="5734050"/>
            <a:ext cx="574059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Tích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hợp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sâu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trình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soạn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thảo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cung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cấp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giao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diện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debug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hỗ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trợ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chạy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test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từng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(step-by-step).</a:t>
            </a:r>
            <a:endParaRPr dirty="0"/>
          </a:p>
        </p:txBody>
      </p:sp>
      <p:pic>
        <p:nvPicPr>
          <p:cNvPr id="270" name="Google Shape;27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20847" y="2040193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 txBox="1"/>
          <p:nvPr/>
        </p:nvSpPr>
        <p:spPr>
          <a:xfrm>
            <a:off x="8667750" y="2552146"/>
            <a:ext cx="16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Codegen</a:t>
            </a:r>
            <a:endParaRPr dirty="0"/>
          </a:p>
        </p:txBody>
      </p:sp>
      <p:pic>
        <p:nvPicPr>
          <p:cNvPr id="272" name="Google Shape;27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53709" y="328649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8667750" y="3825634"/>
            <a:ext cx="16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Trace Viewer</a:t>
            </a:r>
            <a:endParaRPr dirty="0"/>
          </a:p>
        </p:txBody>
      </p:sp>
      <p:pic>
        <p:nvPicPr>
          <p:cNvPr id="274" name="Google Shape;274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01150" y="4467594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8667750" y="5098098"/>
            <a:ext cx="16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UI Mode</a:t>
            </a:r>
            <a:endParaRPr dirty="0"/>
          </a:p>
        </p:txBody>
      </p:sp>
      <p:pic>
        <p:nvPicPr>
          <p:cNvPr id="276" name="Google Shape;276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33475" y="1524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33475" y="33623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19252" y="5386388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0809535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1343025" y="976312"/>
            <a:ext cx="1058132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So sánh Playwright với Selenium &amp; Cypress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771525" y="1681162"/>
            <a:ext cx="10648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042987"/>
            <a:ext cx="381000" cy="38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" name="Google Shape;288;p21"/>
          <p:cNvGraphicFramePr/>
          <p:nvPr/>
        </p:nvGraphicFramePr>
        <p:xfrm>
          <a:off x="406750" y="1690712"/>
          <a:ext cx="11467100" cy="4860200"/>
        </p:xfrm>
        <a:graphic>
          <a:graphicData uri="http://schemas.openxmlformats.org/drawingml/2006/table">
            <a:tbl>
              <a:tblPr firstRow="1" bandRow="1">
                <a:noFill/>
                <a:tableStyleId>{C02C3201-A74F-4589-839D-6EDC73622EE4}</a:tableStyleId>
              </a:tblPr>
              <a:tblGrid>
                <a:gridCol w="286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1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Tiêu chí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CA3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Selenium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9CA3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Truyền thống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3C5F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Cypress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93C5F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Hiện đại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Playwright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Thế hệ mới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Kiến trúc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WebDriver (HTTP - Chậm)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Chạy trong Browse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EE7B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WebSocket (Rất nhanh)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Đa Tab / Cửa sổ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Hỗ trợ tốt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Hạn chế / Không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EE7B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Hỗ trợ mạnh mẽ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Đa ngôn ngữ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Rất nhiều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Chủ yếu JS/TS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EE7B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JS/TS, Python, Java, .NET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Độ ổn định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Thấp (Dễ bị Flaky)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EE7B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Rất cao (Nhờ Auto-wait)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Safari (WebKit)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Hỗ trợ hạn chế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Chưa hoàn thiện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EE7B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Hỗ trợ Native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15629"/>
            <a:ext cx="8572500" cy="2922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5675" y="5813970"/>
            <a:ext cx="32385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9925" y="5813970"/>
            <a:ext cx="16764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" y="9525"/>
            <a:ext cx="121729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9762" y="348704"/>
            <a:ext cx="7524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4555807" y="1205954"/>
            <a:ext cx="3080385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Tổng kết</a:t>
            </a:r>
            <a:endParaRPr/>
          </a:p>
        </p:txBody>
      </p:sp>
      <p:pic>
        <p:nvPicPr>
          <p:cNvPr id="300" name="Google Shape;30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00275" y="285377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2809875" y="2806154"/>
            <a:ext cx="7010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Kiến trúc 3 tầng</a:t>
            </a:r>
            <a:r>
              <a:rPr lang="en-US" sz="18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(Browser &gt; Context &gt; Page) hiện đại, cô lập tốt.</a:t>
            </a:r>
            <a:endParaRPr/>
          </a:p>
        </p:txBody>
      </p:sp>
      <p:pic>
        <p:nvPicPr>
          <p:cNvPr id="302" name="Google Shape;30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00275" y="355862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 txBox="1"/>
          <p:nvPr/>
        </p:nvSpPr>
        <p:spPr>
          <a:xfrm>
            <a:off x="2809875" y="3511004"/>
            <a:ext cx="6572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Tốc độ thực thi cực nhanh</a:t>
            </a:r>
            <a:r>
              <a:rPr lang="en-US" sz="18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, triệt tiêu hoàn toàn lỗi Flaky test.</a:t>
            </a:r>
            <a:endParaRPr/>
          </a:p>
        </p:txBody>
      </p:sp>
      <p:pic>
        <p:nvPicPr>
          <p:cNvPr id="304" name="Google Shape;30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00275" y="426347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/>
        </p:nvSpPr>
        <p:spPr>
          <a:xfrm>
            <a:off x="2809875" y="4215854"/>
            <a:ext cx="71818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Hệ sinh thái công cụ</a:t>
            </a:r>
            <a:r>
              <a:rPr lang="en-US" sz="1800" b="0" i="0" u="none" strike="noStrike" cap="non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và CI/CD hoàn hảo, được hậu thuẫn bởi Microsoft.</a:t>
            </a:r>
            <a:endParaRPr/>
          </a:p>
        </p:txBody>
      </p:sp>
      <p:pic>
        <p:nvPicPr>
          <p:cNvPr id="306" name="Google Shape;306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24950" y="60473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78375" y="604734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 SemiBold</vt:lpstr>
      <vt:lpstr>Inter</vt:lpstr>
      <vt:lpstr>Calibri</vt:lpstr>
      <vt:lpstr>Arial</vt:lpstr>
      <vt:lpstr>Inter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Asus</cp:lastModifiedBy>
  <cp:revision>1</cp:revision>
  <dcterms:modified xsi:type="dcterms:W3CDTF">2026-02-21T14:09:39Z</dcterms:modified>
</cp:coreProperties>
</file>